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Merriweather Light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Open Sans SemiBold"/>
      <p:regular r:id="rId18"/>
      <p:bold r:id="rId19"/>
      <p:italic r:id="rId20"/>
      <p:boldItalic r:id="rId21"/>
    </p:embeddedFont>
    <p:embeddedFont>
      <p:font typeface="Vidaloka"/>
      <p:regular r:id="rId22"/>
    </p:embeddedFont>
    <p:embeddedFont>
      <p:font typeface="Russo One"/>
      <p:regular r:id="rId23"/>
    </p:embeddedFont>
    <p:embeddedFont>
      <p:font typeface="Mako"/>
      <p:regular r:id="rId24"/>
    </p:embeddedFont>
    <p:embeddedFont>
      <p:font typeface="Crimson Text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32" Type="http://schemas.openxmlformats.org/officeDocument/2006/relationships/font" Target="fonts/OpenSans-boldItalic.fntdata"/><Relationship Id="rId20" Type="http://schemas.openxmlformats.org/officeDocument/2006/relationships/font" Target="fonts/OpenSansSemiBold-italic.fntdata"/><Relationship Id="rId22" Type="http://schemas.openxmlformats.org/officeDocument/2006/relationships/font" Target="fonts/Vidaloka-regular.fntdata"/><Relationship Id="rId21" Type="http://schemas.openxmlformats.org/officeDocument/2006/relationships/font" Target="fonts/OpenSansSemiBold-boldItalic.fntdata"/><Relationship Id="rId24" Type="http://schemas.openxmlformats.org/officeDocument/2006/relationships/font" Target="fonts/Mako-regular.fntdata"/><Relationship Id="rId23" Type="http://schemas.openxmlformats.org/officeDocument/2006/relationships/font" Target="fonts/RussoOne-regular.fntdata"/><Relationship Id="rId26" Type="http://schemas.openxmlformats.org/officeDocument/2006/relationships/font" Target="fonts/CrimsonText-bold.fntdata"/><Relationship Id="rId25" Type="http://schemas.openxmlformats.org/officeDocument/2006/relationships/font" Target="fonts/CrimsonText-regular.fntdata"/><Relationship Id="rId28" Type="http://schemas.openxmlformats.org/officeDocument/2006/relationships/font" Target="fonts/CrimsonText-boldItalic.fntdata"/><Relationship Id="rId27" Type="http://schemas.openxmlformats.org/officeDocument/2006/relationships/font" Target="fonts/CrimsonText-italic.fntdata"/><Relationship Id="rId29" Type="http://schemas.openxmlformats.org/officeDocument/2006/relationships/font" Target="fonts/OpenSans-regular.fntdata"/><Relationship Id="rId11" Type="http://schemas.openxmlformats.org/officeDocument/2006/relationships/font" Target="fonts/MerriweatherLight-bold.fntdata"/><Relationship Id="rId10" Type="http://schemas.openxmlformats.org/officeDocument/2006/relationships/font" Target="fonts/MerriweatherLight-regular.fntdata"/><Relationship Id="rId13" Type="http://schemas.openxmlformats.org/officeDocument/2006/relationships/font" Target="fonts/MerriweatherLight-boldItalic.fntdata"/><Relationship Id="rId12" Type="http://schemas.openxmlformats.org/officeDocument/2006/relationships/font" Target="fonts/MerriweatherLight-italic.fntdata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schemas.openxmlformats.org/officeDocument/2006/relationships/font" Target="fonts/OpenSansSemiBold-bold.fntdata"/><Relationship Id="rId18" Type="http://schemas.openxmlformats.org/officeDocument/2006/relationships/font" Target="fonts/Open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4a09046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a4a09046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" name="Google Shape;18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24" name="Google Shape;24;p4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26" name="Google Shape;26;p4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28" name="Google Shape;28;p4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0" name="Google Shape;30;p4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5" name="Google Shape;35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54" name="Google Shape;54;p6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7"/>
          <p:cNvSpPr txBox="1"/>
          <p:nvPr>
            <p:ph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1" name="Google Shape;61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7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7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8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7" name="Google Shape;7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9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82" name="Google Shape;8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92" name="Google Shape;92;p1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2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2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98" name="Google Shape;98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3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04" name="Google Shape;104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16"/>
          <p:cNvSpPr txBox="1"/>
          <p:nvPr>
            <p:ph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16"/>
          <p:cNvSpPr txBox="1"/>
          <p:nvPr>
            <p:ph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15" name="Google Shape;115;p16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16"/>
          <p:cNvSpPr txBox="1"/>
          <p:nvPr>
            <p:ph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18" name="Google Shape;118;p16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16"/>
          <p:cNvSpPr txBox="1"/>
          <p:nvPr>
            <p:ph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21" name="Google Shape;121;p16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16"/>
          <p:cNvSpPr txBox="1"/>
          <p:nvPr>
            <p:ph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24" name="Google Shape;124;p16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p16"/>
          <p:cNvSpPr txBox="1"/>
          <p:nvPr>
            <p:ph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27" name="Google Shape;127;p16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9" name="Google Shape;129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1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1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6" name="Google Shape;136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1" name="Google Shape;141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8" name="Google Shape;148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54" name="Google Shape;154;p20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59" name="Google Shape;159;p21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60" name="Google Shape;160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2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2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2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2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22"/>
          <p:cNvSpPr txBox="1"/>
          <p:nvPr>
            <p:ph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169" name="Google Shape;169;p22"/>
          <p:cNvSpPr txBox="1"/>
          <p:nvPr>
            <p:ph idx="1" type="subTitle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0" name="Google Shape;170;p22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22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2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2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6" name="Google Shape;17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4" name="Google Shape;194;p26"/>
          <p:cNvSpPr txBox="1"/>
          <p:nvPr>
            <p:ph idx="2" type="title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195" name="Google Shape;195;p26"/>
          <p:cNvSpPr txBox="1"/>
          <p:nvPr>
            <p:ph idx="1" type="subTitle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6" name="Google Shape;196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4373850" y="944250"/>
            <a:ext cx="2475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1" name="Google Shape;201;p27"/>
          <p:cNvSpPr txBox="1"/>
          <p:nvPr>
            <p:ph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202" name="Google Shape;202;p27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3" name="Google Shape;203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2" name="Google Shape;212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2" name="Google Shape;232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8" name="Google Shape;24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 -">
  <p:cSld name="CUSTOM_3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2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2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66" name="Google Shape;266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0" name="Google Shape;280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4" name="Google Shape;294;p35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5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5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2" name="Google Shape;30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6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2" name="Google Shape;312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37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3" name="Google Shape;323;p37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4" name="Google Shape;324;p37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7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6" name="Google Shape;326;p37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7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8" name="Google Shape;328;p37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7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7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7"/>
          <p:cNvSpPr txBox="1"/>
          <p:nvPr>
            <p:ph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37"/>
          <p:cNvSpPr txBox="1"/>
          <p:nvPr>
            <p:ph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3" name="Google Shape;333;p37"/>
          <p:cNvSpPr txBox="1"/>
          <p:nvPr>
            <p:ph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4" name="Google Shape;334;p37"/>
          <p:cNvSpPr txBox="1"/>
          <p:nvPr>
            <p:ph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7" name="Google Shape;337;p38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9" name="Google Shape;339;p38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8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1" name="Google Shape;341;p38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8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3" name="Google Shape;343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9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9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1" name="Google Shape;351;p39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39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39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39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55" name="Google Shape;355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40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0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7" name="Google Shape;367;p40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0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69" name="Google Shape;369;p40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0" name="Google Shape;370;p40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1"/>
          <p:cNvSpPr txBox="1"/>
          <p:nvPr>
            <p:ph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77" name="Google Shape;377;p41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8" name="Google Shape;378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2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4" name="Google Shape;384;p42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42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6" name="Google Shape;386;p42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42"/>
          <p:cNvSpPr txBox="1"/>
          <p:nvPr>
            <p:ph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93" name="Google Shape;393;p42"/>
          <p:cNvSpPr txBox="1"/>
          <p:nvPr>
            <p:ph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94" name="Google Shape;394;p42"/>
          <p:cNvSpPr txBox="1"/>
          <p:nvPr>
            <p:ph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43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8" name="Google Shape;398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2" name="Google Shape;402;p44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3" name="Google Shape;403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/>
          <p:nvPr>
            <p:ph idx="1" type="subTitle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08" name="Google Shape;408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46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19" name="Google Shape;419;p46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0" name="Google Shape;420;p46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3" name="Google Shape;423;p47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27" name="Google Shape;427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2" name="Google Shape;432;p48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8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4" name="Google Shape;434;p48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8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6" name="Google Shape;436;p48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7" name="Google Shape;437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3" name="Google Shape;443;p49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endParaRPr b="1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b="0" i="0" sz="3000" u="none" cap="none" strike="noStrik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1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 txBox="1"/>
          <p:nvPr>
            <p:ph type="ctrTitle"/>
          </p:nvPr>
        </p:nvSpPr>
        <p:spPr>
          <a:xfrm>
            <a:off x="863400" y="579200"/>
            <a:ext cx="7572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800"/>
              <a:t>Moving Violations in D.C.</a:t>
            </a:r>
            <a:endParaRPr sz="4800"/>
          </a:p>
        </p:txBody>
      </p:sp>
      <p:sp>
        <p:nvSpPr>
          <p:cNvPr id="473" name="Google Shape;473;p54"/>
          <p:cNvSpPr txBox="1"/>
          <p:nvPr>
            <p:ph idx="1" type="subTitle"/>
          </p:nvPr>
        </p:nvSpPr>
        <p:spPr>
          <a:xfrm>
            <a:off x="980975" y="2698175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An analysis of all 266,000 moving vehicle violations from October 2024</a:t>
            </a:r>
            <a:endParaRPr b="1" sz="100">
              <a:solidFill>
                <a:schemeClr val="dk1"/>
              </a:solidFill>
            </a:endParaRPr>
          </a:p>
        </p:txBody>
      </p:sp>
      <p:sp>
        <p:nvSpPr>
          <p:cNvPr id="474" name="Google Shape;474;p54"/>
          <p:cNvSpPr txBox="1"/>
          <p:nvPr/>
        </p:nvSpPr>
        <p:spPr>
          <a:xfrm>
            <a:off x="3424475" y="3044150"/>
            <a:ext cx="21771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Isaac Nashagh</a:t>
            </a:r>
            <a:endParaRPr sz="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5"/>
          <p:cNvSpPr txBox="1"/>
          <p:nvPr>
            <p:ph type="title"/>
          </p:nvPr>
        </p:nvSpPr>
        <p:spPr>
          <a:xfrm>
            <a:off x="713225" y="445025"/>
            <a:ext cx="7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80" name="Google Shape;480;p55"/>
          <p:cNvSpPr txBox="1"/>
          <p:nvPr/>
        </p:nvSpPr>
        <p:spPr>
          <a:xfrm>
            <a:off x="0" y="-79075"/>
            <a:ext cx="14022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55"/>
          <p:cNvSpPr txBox="1"/>
          <p:nvPr/>
        </p:nvSpPr>
        <p:spPr>
          <a:xfrm>
            <a:off x="391100" y="1151200"/>
            <a:ext cx="27894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266,297 rows and 29 columns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Variables included things like violation type, location, issue date/time, fine amount, and issuing agency. 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55"/>
          <p:cNvSpPr txBox="1"/>
          <p:nvPr/>
        </p:nvSpPr>
        <p:spPr>
          <a:xfrm>
            <a:off x="2863250" y="1151200"/>
            <a:ext cx="31878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Minor cleaning was needed for the data like converting the format for time values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Values like body type, disposition date and total paid were the only incomplete variables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3" name="Google Shape;48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850" y="3520050"/>
            <a:ext cx="4811983" cy="4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375" y="1601325"/>
            <a:ext cx="2789400" cy="1083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6"/>
          <p:cNvSpPr txBox="1"/>
          <p:nvPr>
            <p:ph type="title"/>
          </p:nvPr>
        </p:nvSpPr>
        <p:spPr>
          <a:xfrm>
            <a:off x="713225" y="445025"/>
            <a:ext cx="75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Interesting Stats!</a:t>
            </a:r>
            <a:endParaRPr/>
          </a:p>
        </p:txBody>
      </p:sp>
      <p:sp>
        <p:nvSpPr>
          <p:cNvPr id="490" name="Google Shape;490;p56"/>
          <p:cNvSpPr txBox="1"/>
          <p:nvPr/>
        </p:nvSpPr>
        <p:spPr>
          <a:xfrm>
            <a:off x="0" y="-79075"/>
            <a:ext cx="14022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1" name="Google Shape;49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25" y="1154875"/>
            <a:ext cx="2995975" cy="17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6"/>
          <p:cNvPicPr preferRelativeResize="0"/>
          <p:nvPr/>
        </p:nvPicPr>
        <p:blipFill rotWithShape="1">
          <a:blip r:embed="rId4">
            <a:alphaModFix/>
          </a:blip>
          <a:srcRect b="2752" l="2730" r="33018" t="0"/>
          <a:stretch/>
        </p:blipFill>
        <p:spPr>
          <a:xfrm>
            <a:off x="5136263" y="445013"/>
            <a:ext cx="2442500" cy="21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25" y="3021958"/>
            <a:ext cx="2995975" cy="1770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4700" y="2770750"/>
            <a:ext cx="3372250" cy="19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7"/>
          <p:cNvSpPr txBox="1"/>
          <p:nvPr>
            <p:ph type="title"/>
          </p:nvPr>
        </p:nvSpPr>
        <p:spPr>
          <a:xfrm>
            <a:off x="713225" y="445025"/>
            <a:ext cx="75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500" name="Google Shape;500;p57"/>
          <p:cNvSpPr txBox="1"/>
          <p:nvPr/>
        </p:nvSpPr>
        <p:spPr>
          <a:xfrm>
            <a:off x="0" y="-79075"/>
            <a:ext cx="14022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1" name="Google Shape;50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700" y="1103950"/>
            <a:ext cx="4304824" cy="2935592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7"/>
          <p:cNvSpPr txBox="1"/>
          <p:nvPr/>
        </p:nvSpPr>
        <p:spPr>
          <a:xfrm>
            <a:off x="273025" y="1103950"/>
            <a:ext cx="37266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Driving Question: 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 areas near government buildings like courthouses and police stations experience higher policing and ticketing rates?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57"/>
          <p:cNvSpPr txBox="1"/>
          <p:nvPr/>
        </p:nvSpPr>
        <p:spPr>
          <a:xfrm>
            <a:off x="199250" y="2553300"/>
            <a:ext cx="3726600" cy="2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Conclusion: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Yes!  - Judiciary square/Downtown D.C. is the largest cluster on the heatmap. 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Other high traffic areas include Union Station (NE), the area immediately around the MPD station (W), and the RFK Stadium/ National Guard Armory (E).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509" name="Google Shape;5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050" y="1179975"/>
            <a:ext cx="3304575" cy="33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8"/>
          <p:cNvSpPr txBox="1"/>
          <p:nvPr/>
        </p:nvSpPr>
        <p:spPr>
          <a:xfrm>
            <a:off x="634625" y="1489900"/>
            <a:ext cx="37782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My analysis of this dataset allowed me to answer all questions I had when I first started. It clearly showed that almost all violations were for speeding 11-20 MPH over the limit. Violations followed a daily pattern, peaking at 1-2pm and hitting a low at 5am, likely due to traffic and police activity at those hours. Violations were also largely centered on community hubs and government buildings.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If I were to continue this study I would like to examine violation type and quantity in the school zones of D.C. and get data from the rest of the year and not just October. 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